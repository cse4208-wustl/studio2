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2" r:id="rId2"/>
    <p:sldId id="258" r:id="rId3"/>
    <p:sldId id="294" r:id="rId4"/>
    <p:sldId id="295" r:id="rId5"/>
    <p:sldId id="296" r:id="rId6"/>
    <p:sldId id="276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D1A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/>
    <p:restoredTop sz="78125" autoAdjust="0"/>
  </p:normalViewPr>
  <p:slideViewPr>
    <p:cSldViewPr>
      <p:cViewPr varScale="1">
        <p:scale>
          <a:sx n="54" d="100"/>
          <a:sy n="54" d="100"/>
        </p:scale>
        <p:origin x="164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4FB44-D9BB-4AE5-A1A8-90C00510A7C0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D4BF9-4F82-4169-95B0-797E1744D4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7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4BF9-4F82-4169-95B0-797E1744D4A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05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D4BF9-4F82-4169-95B0-797E1744D4A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44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rgbClr val="720D1A"/>
                </a:solidFill>
                <a:latin typeface="Georgia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522S – Advanced Operating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52400" y="5715000"/>
            <a:ext cx="9448800" cy="12954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FED50-267D-B443-A7AA-B339A342C7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0"/>
            <a:ext cx="4572000" cy="1143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79DD94B-0DCD-3C40-BE69-A91B453E93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15E86F-FC5C-AC42-95F4-FD8CC6166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718C36-2C42-764C-9239-EAD1007D22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D5D6AD-D8AE-E849-ADBF-3069989D83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0AED7A-B2BF-EC46-B6A9-62E02D1FD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84A28-CBF1-2E4A-84B4-5EE7495E2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720D1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422S –Operating Systems Organization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CSE 522S – Advanced Operating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BFBFBF"/>
                </a:solidFill>
              </a:defRPr>
            </a:lvl1pPr>
          </a:lstStyle>
          <a:p>
            <a:fld id="{A773B20C-5347-4FF9-A9F0-76F937F6021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5F4596-CC02-7E4D-91EF-02993D1FB4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0"/>
            <a:ext cx="3429000" cy="8572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Georg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800"/>
            <a:ext cx="9144000" cy="2015254"/>
          </a:xfrm>
        </p:spPr>
        <p:txBody>
          <a:bodyPr>
            <a:noAutofit/>
          </a:bodyPr>
          <a:lstStyle/>
          <a:p>
            <a:r>
              <a:rPr lang="en-US" sz="3600" dirty="0"/>
              <a:t>E81 CSE 428S:</a:t>
            </a:r>
            <a:br>
              <a:rPr lang="en-US" sz="3600" dirty="0"/>
            </a:br>
            <a:r>
              <a:rPr lang="en-US" sz="3600" dirty="0"/>
              <a:t>Multi-Paradigm Programming in </a:t>
            </a:r>
            <a:r>
              <a:rPr lang="en-US" sz="3600"/>
              <a:t>C</a:t>
            </a:r>
            <a:r>
              <a:rPr lang="en-US" sz="3600" smtClean="0"/>
              <a:t>++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3900" y="3497213"/>
            <a:ext cx="7696200" cy="990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Department of Computer Science &amp; Engineering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Washington University, St. Louis MO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6F77C-E162-431C-A3B9-21DE8B2239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0" y="4597207"/>
            <a:ext cx="9144000" cy="105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Chris Gill</a:t>
            </a:r>
          </a:p>
          <a:p>
            <a:r>
              <a:rPr lang="en-US" sz="2400" dirty="0" err="1">
                <a:solidFill>
                  <a:schemeClr val="tx1"/>
                </a:solidFill>
              </a:rPr>
              <a:t>cdgill@wustl.edu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CB7E5E1-7354-BC27-D45E-A7C8B4432169}"/>
              </a:ext>
            </a:extLst>
          </p:cNvPr>
          <p:cNvSpPr txBox="1">
            <a:spLocks/>
          </p:cNvSpPr>
          <p:nvPr/>
        </p:nvSpPr>
        <p:spPr>
          <a:xfrm>
            <a:off x="33869" y="1642532"/>
            <a:ext cx="9144000" cy="2015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720D1A"/>
                </a:solidFill>
                <a:latin typeface="Georgia" pitchFamily="18" charset="0"/>
                <a:ea typeface="+mj-ea"/>
                <a:cs typeface="+mj-cs"/>
              </a:defRPr>
            </a:lvl1pPr>
          </a:lstStyle>
          <a:p>
            <a:r>
              <a:rPr lang="en-US" sz="3600" dirty="0"/>
              <a:t>State and Operations on it</a:t>
            </a:r>
          </a:p>
        </p:txBody>
      </p:sp>
    </p:spTree>
    <p:extLst>
      <p:ext uri="{BB962C8B-B14F-4D97-AF65-F5344CB8AC3E}">
        <p14:creationId xmlns:p14="http://schemas.microsoft.com/office/powerpoint/2010/main" val="180616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What do we mean by State?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493837"/>
            <a:ext cx="9144000" cy="486251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lnSpc>
                <a:spcPct val="120000"/>
              </a:lnSpc>
            </a:pPr>
            <a:r>
              <a:rPr lang="en-US" sz="3400" dirty="0"/>
              <a:t>Values of variables in a program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Especially those affecting flow of control in the program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Combinations of values like member variables in an object or even in multiple interacting objects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800" dirty="0"/>
              <a:t>E.g., players’ hands and tricks taken in a card game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The status of library objects, etc.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whether an </a:t>
            </a:r>
            <a:r>
              <a:rPr lang="en-US" sz="2900" b="1" dirty="0" err="1">
                <a:latin typeface="Courier" pitchFamily="2" charset="0"/>
              </a:rPr>
              <a:t>ofstream</a:t>
            </a:r>
            <a:r>
              <a:rPr lang="en-US" sz="2900" dirty="0"/>
              <a:t> is open for writing to a file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Things external to the program itself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the contents of a file</a:t>
            </a:r>
          </a:p>
        </p:txBody>
      </p:sp>
      <p:sp>
        <p:nvSpPr>
          <p:cNvPr id="49" name="Footer Placeholder 48"/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352800" cy="365125"/>
          </a:xfrm>
        </p:spPr>
        <p:txBody>
          <a:bodyPr/>
          <a:lstStyle/>
          <a:p>
            <a:r>
              <a:rPr lang="en-US" dirty="0"/>
              <a:t>CSE 428S – Multi-Paradigm Programming in C++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Examples of Operations on State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493837"/>
            <a:ext cx="9144000" cy="4862513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lnSpc>
                <a:spcPct val="120000"/>
              </a:lnSpc>
            </a:pPr>
            <a:r>
              <a:rPr lang="en-US" sz="3400" dirty="0"/>
              <a:t>Iteration over a range of values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moving a </a:t>
            </a:r>
            <a:r>
              <a:rPr lang="en-US" sz="2900" u="sng" dirty="0"/>
              <a:t>pointer</a:t>
            </a:r>
            <a:r>
              <a:rPr lang="en-US" sz="2900" dirty="0"/>
              <a:t> to different positions in an array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increasing or decreasing an integer </a:t>
            </a:r>
            <a:r>
              <a:rPr lang="en-US" sz="2900" u="sng" dirty="0"/>
              <a:t>variable</a:t>
            </a:r>
            <a:r>
              <a:rPr lang="en-US" sz="2900" dirty="0"/>
              <a:t>’s value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E.g., moving a </a:t>
            </a:r>
            <a:r>
              <a:rPr lang="en-US" sz="2900" u="sng" dirty="0"/>
              <a:t>variable</a:t>
            </a:r>
            <a:r>
              <a:rPr lang="en-US" sz="2900" dirty="0"/>
              <a:t> through a set of enumerated values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Transforming states of multiple objects at once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800" dirty="0"/>
              <a:t>E.g., taking a </a:t>
            </a:r>
            <a:r>
              <a:rPr lang="en-US" sz="2800" u="sng" dirty="0"/>
              <a:t>trick</a:t>
            </a:r>
            <a:r>
              <a:rPr lang="en-US" sz="2800" dirty="0"/>
              <a:t> in a </a:t>
            </a:r>
            <a:r>
              <a:rPr lang="en-US" sz="2800" u="sng" dirty="0"/>
              <a:t>card game</a:t>
            </a:r>
            <a:r>
              <a:rPr lang="en-US" sz="2800" dirty="0"/>
              <a:t> where players must follow the suit of the first card that was led that round (if they can)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Successful open of an </a:t>
            </a:r>
            <a:r>
              <a:rPr lang="en-US" sz="3400" b="1" dirty="0" err="1">
                <a:latin typeface="Courier" pitchFamily="2" charset="0"/>
              </a:rPr>
              <a:t>ofstream</a:t>
            </a:r>
            <a:r>
              <a:rPr lang="en-US" sz="3400" dirty="0"/>
              <a:t> </a:t>
            </a:r>
            <a:r>
              <a:rPr lang="en-US" sz="3400" u="sng" dirty="0"/>
              <a:t>object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Object’s </a:t>
            </a:r>
            <a:r>
              <a:rPr lang="en-US" sz="2900" b="1" dirty="0" err="1">
                <a:latin typeface="Courier" pitchFamily="2" charset="0"/>
              </a:rPr>
              <a:t>is_open</a:t>
            </a:r>
            <a:r>
              <a:rPr lang="en-US" sz="2900" b="1" dirty="0">
                <a:latin typeface="Courier" pitchFamily="2" charset="0"/>
              </a:rPr>
              <a:t>()</a:t>
            </a:r>
            <a:r>
              <a:rPr lang="en-US" sz="2900" dirty="0"/>
              <a:t> method then returns true if so</a:t>
            </a:r>
          </a:p>
          <a:p>
            <a:pPr marL="457200" indent="-457200">
              <a:lnSpc>
                <a:spcPct val="120000"/>
              </a:lnSpc>
            </a:pPr>
            <a:r>
              <a:rPr lang="en-US" sz="3400" dirty="0"/>
              <a:t>Modifying a </a:t>
            </a:r>
            <a:r>
              <a:rPr lang="en-US" sz="3400" u="sng" dirty="0"/>
              <a:t>file</a:t>
            </a:r>
            <a:r>
              <a:rPr lang="en-US" sz="3400" dirty="0"/>
              <a:t> via an open </a:t>
            </a:r>
            <a:r>
              <a:rPr lang="en-US" sz="3400" b="1" dirty="0" err="1">
                <a:latin typeface="Courier" pitchFamily="2" charset="0"/>
              </a:rPr>
              <a:t>ofstream</a:t>
            </a:r>
            <a:r>
              <a:rPr lang="en-US" sz="3400" dirty="0"/>
              <a:t> object</a:t>
            </a:r>
          </a:p>
          <a:p>
            <a:pPr marL="857250" lvl="1" indent="-457200">
              <a:lnSpc>
                <a:spcPct val="120000"/>
              </a:lnSpc>
            </a:pPr>
            <a:r>
              <a:rPr lang="en-US" sz="2900" dirty="0"/>
              <a:t>Using the object’s </a:t>
            </a:r>
            <a:r>
              <a:rPr lang="en-US" sz="2900" b="1" dirty="0">
                <a:latin typeface="Courier" pitchFamily="2" charset="0"/>
              </a:rPr>
              <a:t>&lt;&lt;</a:t>
            </a:r>
            <a:r>
              <a:rPr lang="en-US" sz="2900" dirty="0"/>
              <a:t> (a.k.a. “shift”) operator</a:t>
            </a:r>
          </a:p>
          <a:p>
            <a:pPr marL="400050" lvl="1" indent="0">
              <a:lnSpc>
                <a:spcPct val="120000"/>
              </a:lnSpc>
              <a:buNone/>
            </a:pPr>
            <a:endParaRPr lang="en-US" sz="2800" dirty="0"/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48">
            <a:extLst>
              <a:ext uri="{FF2B5EF4-FFF2-40B4-BE49-F238E27FC236}">
                <a16:creationId xmlns:a16="http://schemas.microsoft.com/office/drawing/2014/main" id="{BC40C3CB-7769-D4E5-A7E1-382B3060C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352800" cy="365125"/>
          </a:xfrm>
        </p:spPr>
        <p:txBody>
          <a:bodyPr/>
          <a:lstStyle/>
          <a:p>
            <a:r>
              <a:rPr lang="en-US" dirty="0"/>
              <a:t>CSE 428S – Multi-Paradigm Programming in C++</a:t>
            </a:r>
          </a:p>
        </p:txBody>
      </p:sp>
    </p:spTree>
    <p:extLst>
      <p:ext uri="{BB962C8B-B14F-4D97-AF65-F5344CB8AC3E}">
        <p14:creationId xmlns:p14="http://schemas.microsoft.com/office/powerpoint/2010/main" val="181006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Iteration Example: Weekdays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3E62DA-1714-FD67-9148-4D82BE60469C}"/>
              </a:ext>
            </a:extLst>
          </p:cNvPr>
          <p:cNvSpPr/>
          <p:nvPr/>
        </p:nvSpPr>
        <p:spPr>
          <a:xfrm>
            <a:off x="3505200" y="226527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37F01-C7FB-137E-4A84-BE20D9171A9A}"/>
              </a:ext>
            </a:extLst>
          </p:cNvPr>
          <p:cNvSpPr txBox="1"/>
          <p:nvPr/>
        </p:nvSpPr>
        <p:spPr>
          <a:xfrm>
            <a:off x="270029" y="4690408"/>
            <a:ext cx="96359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" pitchFamily="2" charset="0"/>
              </a:rPr>
              <a:t>enum</a:t>
            </a:r>
            <a:r>
              <a:rPr lang="en-US" sz="2400" b="1" dirty="0">
                <a:latin typeface="Courier" pitchFamily="2" charset="0"/>
              </a:rPr>
              <a:t> class Weekday </a:t>
            </a:r>
          </a:p>
          <a:p>
            <a:r>
              <a:rPr lang="en-US" sz="2400" b="1" dirty="0">
                <a:latin typeface="Courier" pitchFamily="2" charset="0"/>
              </a:rPr>
              <a:t>{sun, </a:t>
            </a:r>
            <a:r>
              <a:rPr lang="en-US" sz="2400" b="1" dirty="0" err="1">
                <a:latin typeface="Courier" pitchFamily="2" charset="0"/>
              </a:rPr>
              <a:t>mon</a:t>
            </a:r>
            <a:r>
              <a:rPr lang="en-US" sz="2400" b="1" dirty="0">
                <a:latin typeface="Courier" pitchFamily="2" charset="0"/>
              </a:rPr>
              <a:t>, </a:t>
            </a:r>
            <a:r>
              <a:rPr lang="en-US" sz="2400" b="1" dirty="0" err="1">
                <a:latin typeface="Courier" pitchFamily="2" charset="0"/>
              </a:rPr>
              <a:t>tue</a:t>
            </a:r>
            <a:r>
              <a:rPr lang="en-US" sz="2400" b="1" dirty="0">
                <a:latin typeface="Courier" pitchFamily="2" charset="0"/>
              </a:rPr>
              <a:t>, wed, </a:t>
            </a:r>
            <a:r>
              <a:rPr lang="en-US" sz="2400" b="1" dirty="0" err="1">
                <a:latin typeface="Courier" pitchFamily="2" charset="0"/>
              </a:rPr>
              <a:t>thu</a:t>
            </a:r>
            <a:r>
              <a:rPr lang="en-US" sz="2400" b="1" dirty="0">
                <a:latin typeface="Courier" pitchFamily="2" charset="0"/>
              </a:rPr>
              <a:t>, </a:t>
            </a:r>
            <a:r>
              <a:rPr lang="en-US" sz="2400" b="1" dirty="0" err="1">
                <a:latin typeface="Courier" pitchFamily="2" charset="0"/>
              </a:rPr>
              <a:t>fri</a:t>
            </a:r>
            <a:r>
              <a:rPr lang="en-US" sz="2400" b="1" dirty="0">
                <a:latin typeface="Courier" pitchFamily="2" charset="0"/>
              </a:rPr>
              <a:t>, sat, sun};</a:t>
            </a:r>
          </a:p>
          <a:p>
            <a:r>
              <a:rPr lang="en-US" sz="2400" b="1" dirty="0">
                <a:latin typeface="Courier" pitchFamily="2" charset="0"/>
              </a:rPr>
              <a:t>Weekday w = Weekday::sun;</a:t>
            </a:r>
          </a:p>
          <a:p>
            <a:r>
              <a:rPr lang="en-US" sz="2400" b="1" dirty="0">
                <a:latin typeface="Courier" pitchFamily="2" charset="0"/>
              </a:rPr>
              <a:t>operator++(Weekday&amp;); operator--(Weekday&amp;);</a:t>
            </a:r>
          </a:p>
          <a:p>
            <a:endParaRPr lang="en-US" sz="2400" b="1" dirty="0">
              <a:latin typeface="Courier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B3679-16A7-A315-863B-795CB5F778B9}"/>
              </a:ext>
            </a:extLst>
          </p:cNvPr>
          <p:cNvSpPr txBox="1"/>
          <p:nvPr/>
        </p:nvSpPr>
        <p:spPr>
          <a:xfrm>
            <a:off x="3657600" y="239856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</a:t>
            </a:r>
            <a:r>
              <a:rPr lang="en-US" sz="2000" b="1" dirty="0" err="1">
                <a:latin typeface="Courier" pitchFamily="2" charset="0"/>
              </a:rPr>
              <a:t>tue</a:t>
            </a:r>
            <a:endParaRPr lang="en-US" sz="2000" b="1" dirty="0">
              <a:latin typeface="Courier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2D0803-C5EC-812C-66D3-D021382EBF5A}"/>
              </a:ext>
            </a:extLst>
          </p:cNvPr>
          <p:cNvSpPr/>
          <p:nvPr/>
        </p:nvSpPr>
        <p:spPr>
          <a:xfrm>
            <a:off x="76200" y="257007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35A12-3194-A906-2E88-87A45EA1D220}"/>
              </a:ext>
            </a:extLst>
          </p:cNvPr>
          <p:cNvSpPr txBox="1"/>
          <p:nvPr/>
        </p:nvSpPr>
        <p:spPr>
          <a:xfrm>
            <a:off x="228600" y="270336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Weekday::sun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F3FAF9-104C-32B1-45C0-20CEF4A5602B}"/>
              </a:ext>
            </a:extLst>
          </p:cNvPr>
          <p:cNvSpPr/>
          <p:nvPr/>
        </p:nvSpPr>
        <p:spPr>
          <a:xfrm>
            <a:off x="838200" y="1447800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CCD6D-BD5B-BE22-DC6E-FDEEF406611A}"/>
              </a:ext>
            </a:extLst>
          </p:cNvPr>
          <p:cNvSpPr txBox="1"/>
          <p:nvPr/>
        </p:nvSpPr>
        <p:spPr>
          <a:xfrm>
            <a:off x="990600" y="1581090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</a:t>
            </a:r>
            <a:r>
              <a:rPr lang="en-US" sz="2000" b="1" dirty="0" err="1">
                <a:latin typeface="Courier" pitchFamily="2" charset="0"/>
              </a:rPr>
              <a:t>mon</a:t>
            </a:r>
            <a:endParaRPr lang="en-US" sz="2000" b="1" dirty="0">
              <a:latin typeface="Courier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0064B3-1B53-558C-06E8-7CB39DF2914E}"/>
              </a:ext>
            </a:extLst>
          </p:cNvPr>
          <p:cNvSpPr/>
          <p:nvPr/>
        </p:nvSpPr>
        <p:spPr>
          <a:xfrm>
            <a:off x="6096000" y="150327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A80196-5B17-2277-3E50-54C236823DF7}"/>
              </a:ext>
            </a:extLst>
          </p:cNvPr>
          <p:cNvSpPr txBox="1"/>
          <p:nvPr/>
        </p:nvSpPr>
        <p:spPr>
          <a:xfrm>
            <a:off x="6248400" y="163656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Weekday::wed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82F35-443A-E9B2-C9C2-C149A517A305}"/>
              </a:ext>
            </a:extLst>
          </p:cNvPr>
          <p:cNvSpPr/>
          <p:nvPr/>
        </p:nvSpPr>
        <p:spPr>
          <a:xfrm>
            <a:off x="6781800" y="264627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4C96E-663B-1FA5-403B-3E6B47A8D6C9}"/>
              </a:ext>
            </a:extLst>
          </p:cNvPr>
          <p:cNvSpPr txBox="1"/>
          <p:nvPr/>
        </p:nvSpPr>
        <p:spPr>
          <a:xfrm>
            <a:off x="6934200" y="277956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</a:t>
            </a:r>
            <a:r>
              <a:rPr lang="en-US" sz="2000" b="1" dirty="0" err="1">
                <a:latin typeface="Courier" pitchFamily="2" charset="0"/>
              </a:rPr>
              <a:t>thu</a:t>
            </a:r>
            <a:endParaRPr lang="en-US" sz="2000" b="1" dirty="0">
              <a:latin typeface="Courier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061A10-5411-5290-DC03-9094BFAEBF9E}"/>
              </a:ext>
            </a:extLst>
          </p:cNvPr>
          <p:cNvSpPr/>
          <p:nvPr/>
        </p:nvSpPr>
        <p:spPr>
          <a:xfrm>
            <a:off x="4648200" y="409407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E0E21-1E03-5417-58C5-AA85B52CCE84}"/>
              </a:ext>
            </a:extLst>
          </p:cNvPr>
          <p:cNvSpPr txBox="1"/>
          <p:nvPr/>
        </p:nvSpPr>
        <p:spPr>
          <a:xfrm>
            <a:off x="4800600" y="422736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</a:t>
            </a:r>
            <a:r>
              <a:rPr lang="en-US" sz="2000" b="1" dirty="0" err="1">
                <a:latin typeface="Courier" pitchFamily="2" charset="0"/>
              </a:rPr>
              <a:t>fri</a:t>
            </a:r>
            <a:endParaRPr lang="en-US" sz="2000" b="1" dirty="0">
              <a:latin typeface="Courier" pitchFamily="2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CBD6B2-68F5-340B-A551-1CB1C74E2BFB}"/>
              </a:ext>
            </a:extLst>
          </p:cNvPr>
          <p:cNvSpPr/>
          <p:nvPr/>
        </p:nvSpPr>
        <p:spPr>
          <a:xfrm>
            <a:off x="1847102" y="3457543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421D82-4BCA-B80D-B2D7-F20CEF3714F6}"/>
              </a:ext>
            </a:extLst>
          </p:cNvPr>
          <p:cNvSpPr txBox="1"/>
          <p:nvPr/>
        </p:nvSpPr>
        <p:spPr>
          <a:xfrm>
            <a:off x="1981200" y="3638490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Weekday::sat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30691E-041D-58C1-DE63-01FDD9A0A3BA}"/>
              </a:ext>
            </a:extLst>
          </p:cNvPr>
          <p:cNvCxnSpPr>
            <a:cxnSpLocks/>
            <a:stCxn id="6" idx="4"/>
            <a:endCxn id="16" idx="2"/>
          </p:cNvCxnSpPr>
          <p:nvPr/>
        </p:nvCxnSpPr>
        <p:spPr>
          <a:xfrm>
            <a:off x="1219200" y="3276600"/>
            <a:ext cx="627902" cy="534208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C59256-07BC-E2E4-182C-B5CE01A85CD6}"/>
              </a:ext>
            </a:extLst>
          </p:cNvPr>
          <p:cNvCxnSpPr>
            <a:cxnSpLocks/>
            <a:stCxn id="16" idx="0"/>
            <a:endCxn id="6" idx="6"/>
          </p:cNvCxnSpPr>
          <p:nvPr/>
        </p:nvCxnSpPr>
        <p:spPr>
          <a:xfrm flipH="1" flipV="1">
            <a:off x="2362200" y="2923336"/>
            <a:ext cx="627902" cy="534207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ADE60D-BB49-D8B7-17F6-66F571CB7303}"/>
              </a:ext>
            </a:extLst>
          </p:cNvPr>
          <p:cNvSpPr txBox="1"/>
          <p:nvPr/>
        </p:nvSpPr>
        <p:spPr>
          <a:xfrm>
            <a:off x="2590800" y="28764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CB2EA5-F467-DCD7-60D2-611DABE8EF64}"/>
              </a:ext>
            </a:extLst>
          </p:cNvPr>
          <p:cNvSpPr txBox="1"/>
          <p:nvPr/>
        </p:nvSpPr>
        <p:spPr>
          <a:xfrm>
            <a:off x="940475" y="35052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65A7F9F-580C-EC5E-0028-A0F993F08580}"/>
              </a:ext>
            </a:extLst>
          </p:cNvPr>
          <p:cNvCxnSpPr>
            <a:cxnSpLocks/>
            <a:stCxn id="8" idx="2"/>
            <a:endCxn id="6" idx="1"/>
          </p:cNvCxnSpPr>
          <p:nvPr/>
        </p:nvCxnSpPr>
        <p:spPr>
          <a:xfrm flipH="1">
            <a:off x="410977" y="1801065"/>
            <a:ext cx="427223" cy="872475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A87206F-A8BC-153F-4254-B22818A9C2EB}"/>
              </a:ext>
            </a:extLst>
          </p:cNvPr>
          <p:cNvCxnSpPr>
            <a:cxnSpLocks/>
            <a:stCxn id="6" idx="7"/>
            <a:endCxn id="8" idx="4"/>
          </p:cNvCxnSpPr>
          <p:nvPr/>
        </p:nvCxnSpPr>
        <p:spPr>
          <a:xfrm flipH="1" flipV="1">
            <a:off x="1981200" y="2154329"/>
            <a:ext cx="46223" cy="519211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C30BE0A-88D8-45AC-FF67-272E20467775}"/>
              </a:ext>
            </a:extLst>
          </p:cNvPr>
          <p:cNvCxnSpPr>
            <a:cxnSpLocks/>
            <a:stCxn id="3" idx="0"/>
            <a:endCxn id="8" idx="6"/>
          </p:cNvCxnSpPr>
          <p:nvPr/>
        </p:nvCxnSpPr>
        <p:spPr>
          <a:xfrm flipH="1" flipV="1">
            <a:off x="3124200" y="1801065"/>
            <a:ext cx="1524000" cy="464206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C5FE980-1CD8-E432-8E1C-167A529909F8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2789423" y="2050860"/>
            <a:ext cx="715777" cy="540872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DEE445-D66B-0E42-9B3B-7B8F1EE3766D}"/>
              </a:ext>
            </a:extLst>
          </p:cNvPr>
          <p:cNvSpPr txBox="1"/>
          <p:nvPr/>
        </p:nvSpPr>
        <p:spPr>
          <a:xfrm>
            <a:off x="635675" y="20574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58767B-D6A2-D2DD-3333-752F9A6DC21A}"/>
              </a:ext>
            </a:extLst>
          </p:cNvPr>
          <p:cNvSpPr txBox="1"/>
          <p:nvPr/>
        </p:nvSpPr>
        <p:spPr>
          <a:xfrm>
            <a:off x="1981200" y="22098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922BAC-E4B9-E576-636A-D76AD0DCAC8C}"/>
              </a:ext>
            </a:extLst>
          </p:cNvPr>
          <p:cNvSpPr txBox="1"/>
          <p:nvPr/>
        </p:nvSpPr>
        <p:spPr>
          <a:xfrm>
            <a:off x="2743200" y="23622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FAA10-DE54-305D-DA32-8F6874B58001}"/>
              </a:ext>
            </a:extLst>
          </p:cNvPr>
          <p:cNvSpPr txBox="1"/>
          <p:nvPr/>
        </p:nvSpPr>
        <p:spPr>
          <a:xfrm>
            <a:off x="3200400" y="15240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32F7E35-A7AE-1F74-8A64-602DF71C62DA}"/>
              </a:ext>
            </a:extLst>
          </p:cNvPr>
          <p:cNvCxnSpPr>
            <a:cxnSpLocks/>
            <a:stCxn id="10" idx="2"/>
            <a:endCxn id="3" idx="7"/>
          </p:cNvCxnSpPr>
          <p:nvPr/>
        </p:nvCxnSpPr>
        <p:spPr>
          <a:xfrm flipH="1">
            <a:off x="5456423" y="1856536"/>
            <a:ext cx="639577" cy="512204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7DF2688-960C-C747-5C75-95D0BAA0911A}"/>
              </a:ext>
            </a:extLst>
          </p:cNvPr>
          <p:cNvCxnSpPr>
            <a:cxnSpLocks/>
            <a:stCxn id="3" idx="6"/>
          </p:cNvCxnSpPr>
          <p:nvPr/>
        </p:nvCxnSpPr>
        <p:spPr>
          <a:xfrm flipV="1">
            <a:off x="5791200" y="2103438"/>
            <a:ext cx="670811" cy="515098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316AC0E-8FFE-918C-CF64-70EBF7F9B9D1}"/>
              </a:ext>
            </a:extLst>
          </p:cNvPr>
          <p:cNvCxnSpPr>
            <a:cxnSpLocks/>
            <a:stCxn id="12" idx="0"/>
            <a:endCxn id="10" idx="5"/>
          </p:cNvCxnSpPr>
          <p:nvPr/>
        </p:nvCxnSpPr>
        <p:spPr>
          <a:xfrm flipV="1">
            <a:off x="7924800" y="2106331"/>
            <a:ext cx="122423" cy="539940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4D292F-3ECC-7807-4966-4A0A776C3018}"/>
              </a:ext>
            </a:extLst>
          </p:cNvPr>
          <p:cNvCxnSpPr>
            <a:cxnSpLocks/>
            <a:stCxn id="10" idx="4"/>
          </p:cNvCxnSpPr>
          <p:nvPr/>
        </p:nvCxnSpPr>
        <p:spPr>
          <a:xfrm flipH="1">
            <a:off x="7162800" y="2209800"/>
            <a:ext cx="76200" cy="552510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4BFC79F-5982-A383-92BB-BC46AD862505}"/>
              </a:ext>
            </a:extLst>
          </p:cNvPr>
          <p:cNvSpPr txBox="1"/>
          <p:nvPr/>
        </p:nvSpPr>
        <p:spPr>
          <a:xfrm>
            <a:off x="5741075" y="24384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7C99ED-E28A-3C45-DBA8-4159CD4016A7}"/>
              </a:ext>
            </a:extLst>
          </p:cNvPr>
          <p:cNvSpPr txBox="1"/>
          <p:nvPr/>
        </p:nvSpPr>
        <p:spPr>
          <a:xfrm>
            <a:off x="6477000" y="22668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AA4044-3971-61E6-E0CD-548ED7BD5479}"/>
              </a:ext>
            </a:extLst>
          </p:cNvPr>
          <p:cNvSpPr txBox="1"/>
          <p:nvPr/>
        </p:nvSpPr>
        <p:spPr>
          <a:xfrm>
            <a:off x="5131475" y="17526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1ED4A5-C76A-8484-6494-2A1421DC5C4A}"/>
              </a:ext>
            </a:extLst>
          </p:cNvPr>
          <p:cNvSpPr txBox="1"/>
          <p:nvPr/>
        </p:nvSpPr>
        <p:spPr>
          <a:xfrm>
            <a:off x="8001000" y="20382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5E7DD01-93F8-3527-D552-F3807FEFBE6B}"/>
              </a:ext>
            </a:extLst>
          </p:cNvPr>
          <p:cNvCxnSpPr>
            <a:cxnSpLocks/>
            <a:stCxn id="14" idx="6"/>
            <a:endCxn id="12" idx="4"/>
          </p:cNvCxnSpPr>
          <p:nvPr/>
        </p:nvCxnSpPr>
        <p:spPr>
          <a:xfrm flipV="1">
            <a:off x="6934200" y="3352800"/>
            <a:ext cx="990600" cy="1094536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470AA09-40A5-E631-AF5F-0E6A95FEDCE0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6477000" y="3249331"/>
            <a:ext cx="639577" cy="948209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2B15016-6254-7A99-432B-EACA85B3AEE7}"/>
              </a:ext>
            </a:extLst>
          </p:cNvPr>
          <p:cNvSpPr txBox="1"/>
          <p:nvPr/>
        </p:nvSpPr>
        <p:spPr>
          <a:xfrm>
            <a:off x="6045875" y="33528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A7C1A1-E0A4-F942-56BF-1D2442A518C5}"/>
              </a:ext>
            </a:extLst>
          </p:cNvPr>
          <p:cNvSpPr txBox="1"/>
          <p:nvPr/>
        </p:nvSpPr>
        <p:spPr>
          <a:xfrm>
            <a:off x="7543800" y="36384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46307D2-7AAA-CAC8-5987-60744ADFA911}"/>
              </a:ext>
            </a:extLst>
          </p:cNvPr>
          <p:cNvCxnSpPr>
            <a:cxnSpLocks/>
            <a:stCxn id="16" idx="5"/>
            <a:endCxn id="14" idx="2"/>
          </p:cNvCxnSpPr>
          <p:nvPr/>
        </p:nvCxnSpPr>
        <p:spPr>
          <a:xfrm>
            <a:off x="3798325" y="4060603"/>
            <a:ext cx="849875" cy="386733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E335F2A-E81F-D283-448B-379F014770E8}"/>
              </a:ext>
            </a:extLst>
          </p:cNvPr>
          <p:cNvCxnSpPr>
            <a:cxnSpLocks/>
            <a:stCxn id="14" idx="1"/>
            <a:endCxn id="16" idx="6"/>
          </p:cNvCxnSpPr>
          <p:nvPr/>
        </p:nvCxnSpPr>
        <p:spPr>
          <a:xfrm flipH="1" flipV="1">
            <a:off x="4133102" y="3810808"/>
            <a:ext cx="849875" cy="386732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A5D08FE-2408-3442-5F2C-6943D498A923}"/>
              </a:ext>
            </a:extLst>
          </p:cNvPr>
          <p:cNvSpPr txBox="1"/>
          <p:nvPr/>
        </p:nvSpPr>
        <p:spPr>
          <a:xfrm>
            <a:off x="3657600" y="41910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++w;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0ED18ED-C0FA-F8C6-D4BF-3D8925ED2EE8}"/>
              </a:ext>
            </a:extLst>
          </p:cNvPr>
          <p:cNvSpPr txBox="1"/>
          <p:nvPr/>
        </p:nvSpPr>
        <p:spPr>
          <a:xfrm>
            <a:off x="4369475" y="35622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--w;</a:t>
            </a:r>
          </a:p>
        </p:txBody>
      </p:sp>
      <p:sp>
        <p:nvSpPr>
          <p:cNvPr id="18" name="Footer Placeholder 48">
            <a:extLst>
              <a:ext uri="{FF2B5EF4-FFF2-40B4-BE49-F238E27FC236}">
                <a16:creationId xmlns:a16="http://schemas.microsoft.com/office/drawing/2014/main" id="{F22B9BDD-9ABB-11C3-8DE1-28EE85BE8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352800" cy="365125"/>
          </a:xfrm>
        </p:spPr>
        <p:txBody>
          <a:bodyPr/>
          <a:lstStyle/>
          <a:p>
            <a:r>
              <a:rPr lang="en-US" dirty="0"/>
              <a:t>CSE 428S – Multi-Paradigm Programming in C++</a:t>
            </a:r>
          </a:p>
        </p:txBody>
      </p:sp>
    </p:spTree>
    <p:extLst>
      <p:ext uri="{BB962C8B-B14F-4D97-AF65-F5344CB8AC3E}">
        <p14:creationId xmlns:p14="http://schemas.microsoft.com/office/powerpoint/2010/main" val="192137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20D1A"/>
                </a:solidFill>
              </a:rPr>
              <a:t>Iteration Example: Pressure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3B20C-5347-4FF9-A9F0-76F937F6021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37F01-C7FB-137E-4A84-BE20D9171A9A}"/>
              </a:ext>
            </a:extLst>
          </p:cNvPr>
          <p:cNvSpPr txBox="1"/>
          <p:nvPr/>
        </p:nvSpPr>
        <p:spPr>
          <a:xfrm>
            <a:off x="0" y="4971871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Courier" pitchFamily="2" charset="0"/>
              </a:rPr>
              <a:t>enum</a:t>
            </a:r>
            <a:r>
              <a:rPr lang="en-US" sz="2400" b="1" dirty="0">
                <a:latin typeface="Courier" pitchFamily="2" charset="0"/>
              </a:rPr>
              <a:t> class Pressure {lo, med, hi, pop};</a:t>
            </a:r>
          </a:p>
          <a:p>
            <a:r>
              <a:rPr lang="en-US" sz="2400" b="1" dirty="0">
                <a:latin typeface="Courier" pitchFamily="2" charset="0"/>
              </a:rPr>
              <a:t>Pressure p = Pressure::lo;</a:t>
            </a:r>
          </a:p>
          <a:p>
            <a:r>
              <a:rPr lang="en-US" sz="2400" b="1" dirty="0">
                <a:latin typeface="Courier" pitchFamily="2" charset="0"/>
              </a:rPr>
              <a:t>operator++(Pressure&amp;); operator--(Pressure&amp;); 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2D0803-C5EC-812C-66D3-D021382EBF5A}"/>
              </a:ext>
            </a:extLst>
          </p:cNvPr>
          <p:cNvSpPr/>
          <p:nvPr/>
        </p:nvSpPr>
        <p:spPr>
          <a:xfrm>
            <a:off x="76200" y="2000310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735A12-3194-A906-2E88-87A45EA1D220}"/>
              </a:ext>
            </a:extLst>
          </p:cNvPr>
          <p:cNvSpPr txBox="1"/>
          <p:nvPr/>
        </p:nvSpPr>
        <p:spPr>
          <a:xfrm>
            <a:off x="228600" y="2133600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Pressure::lo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882F35-443A-E9B2-C9C2-C149A517A305}"/>
              </a:ext>
            </a:extLst>
          </p:cNvPr>
          <p:cNvSpPr/>
          <p:nvPr/>
        </p:nvSpPr>
        <p:spPr>
          <a:xfrm>
            <a:off x="6705600" y="2140010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4C96E-663B-1FA5-403B-3E6B47A8D6C9}"/>
              </a:ext>
            </a:extLst>
          </p:cNvPr>
          <p:cNvSpPr txBox="1"/>
          <p:nvPr/>
        </p:nvSpPr>
        <p:spPr>
          <a:xfrm>
            <a:off x="6781800" y="2236939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Pressure::pop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061A10-5411-5290-DC03-9094BFAEBF9E}"/>
              </a:ext>
            </a:extLst>
          </p:cNvPr>
          <p:cNvSpPr/>
          <p:nvPr/>
        </p:nvSpPr>
        <p:spPr>
          <a:xfrm>
            <a:off x="4800600" y="4189381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E0E21-1E03-5417-58C5-AA85B52CCE84}"/>
              </a:ext>
            </a:extLst>
          </p:cNvPr>
          <p:cNvSpPr txBox="1"/>
          <p:nvPr/>
        </p:nvSpPr>
        <p:spPr>
          <a:xfrm>
            <a:off x="4953000" y="4322671"/>
            <a:ext cx="20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Pressure::hi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7CBD6B2-68F5-340B-A551-1CB1C74E2BFB}"/>
              </a:ext>
            </a:extLst>
          </p:cNvPr>
          <p:cNvSpPr/>
          <p:nvPr/>
        </p:nvSpPr>
        <p:spPr>
          <a:xfrm>
            <a:off x="1828800" y="3067110"/>
            <a:ext cx="2286000" cy="70652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421D82-4BCA-B80D-B2D7-F20CEF3714F6}"/>
              </a:ext>
            </a:extLst>
          </p:cNvPr>
          <p:cNvSpPr txBox="1"/>
          <p:nvPr/>
        </p:nvSpPr>
        <p:spPr>
          <a:xfrm>
            <a:off x="1905000" y="3221129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Pressure::med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30691E-041D-58C1-DE63-01FDD9A0A3BA}"/>
              </a:ext>
            </a:extLst>
          </p:cNvPr>
          <p:cNvCxnSpPr>
            <a:cxnSpLocks/>
            <a:stCxn id="6" idx="4"/>
            <a:endCxn id="16" idx="2"/>
          </p:cNvCxnSpPr>
          <p:nvPr/>
        </p:nvCxnSpPr>
        <p:spPr>
          <a:xfrm>
            <a:off x="1219200" y="2706839"/>
            <a:ext cx="609600" cy="713536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2C59256-07BC-E2E4-182C-B5CE01A85CD6}"/>
              </a:ext>
            </a:extLst>
          </p:cNvPr>
          <p:cNvCxnSpPr>
            <a:cxnSpLocks/>
            <a:stCxn id="16" idx="0"/>
            <a:endCxn id="6" idx="6"/>
          </p:cNvCxnSpPr>
          <p:nvPr/>
        </p:nvCxnSpPr>
        <p:spPr>
          <a:xfrm flipH="1" flipV="1">
            <a:off x="2362200" y="2353575"/>
            <a:ext cx="609600" cy="713535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CADE60D-BB49-D8B7-17F6-66F571CB7303}"/>
              </a:ext>
            </a:extLst>
          </p:cNvPr>
          <p:cNvSpPr txBox="1"/>
          <p:nvPr/>
        </p:nvSpPr>
        <p:spPr>
          <a:xfrm>
            <a:off x="2743200" y="2402039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++p;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CB2EA5-F467-DCD7-60D2-611DABE8EF64}"/>
              </a:ext>
            </a:extLst>
          </p:cNvPr>
          <p:cNvSpPr txBox="1"/>
          <p:nvPr/>
        </p:nvSpPr>
        <p:spPr>
          <a:xfrm>
            <a:off x="864275" y="299091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--p;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D6A11C-2B3C-7BD2-DDC2-56521C30A67B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4114800" y="3468839"/>
            <a:ext cx="1020577" cy="824011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4F2E94-1250-45B9-48E0-798AC2F3F241}"/>
              </a:ext>
            </a:extLst>
          </p:cNvPr>
          <p:cNvSpPr txBox="1"/>
          <p:nvPr/>
        </p:nvSpPr>
        <p:spPr>
          <a:xfrm>
            <a:off x="4445675" y="337191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++p;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86B82F-BF93-7965-9CF7-A9F11D7A3A17}"/>
              </a:ext>
            </a:extLst>
          </p:cNvPr>
          <p:cNvSpPr txBox="1"/>
          <p:nvPr/>
        </p:nvSpPr>
        <p:spPr>
          <a:xfrm>
            <a:off x="5562600" y="29526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++p;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222C7C-B7A1-1D9F-3ED7-9076A09824D7}"/>
              </a:ext>
            </a:extLst>
          </p:cNvPr>
          <p:cNvCxnSpPr>
            <a:cxnSpLocks/>
          </p:cNvCxnSpPr>
          <p:nvPr/>
        </p:nvCxnSpPr>
        <p:spPr>
          <a:xfrm flipH="1">
            <a:off x="5867400" y="2533710"/>
            <a:ext cx="838200" cy="1655671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B6606B5-EFC6-20A9-3F7F-FBA038D3CABD}"/>
              </a:ext>
            </a:extLst>
          </p:cNvPr>
          <p:cNvCxnSpPr>
            <a:cxnSpLocks/>
            <a:stCxn id="16" idx="5"/>
            <a:endCxn id="14" idx="2"/>
          </p:cNvCxnSpPr>
          <p:nvPr/>
        </p:nvCxnSpPr>
        <p:spPr>
          <a:xfrm>
            <a:off x="3780023" y="3670170"/>
            <a:ext cx="1020577" cy="872476"/>
          </a:xfrm>
          <a:prstGeom prst="line">
            <a:avLst/>
          </a:prstGeom>
          <a:ln w="38100"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7318758-5CD3-DDA2-0323-B79CDBEC261A}"/>
              </a:ext>
            </a:extLst>
          </p:cNvPr>
          <p:cNvSpPr txBox="1"/>
          <p:nvPr/>
        </p:nvSpPr>
        <p:spPr>
          <a:xfrm>
            <a:off x="3455075" y="390531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--p;</a:t>
            </a:r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48C73CF9-B247-61E2-F28D-8C51DFD49EAE}"/>
              </a:ext>
            </a:extLst>
          </p:cNvPr>
          <p:cNvCxnSpPr>
            <a:cxnSpLocks/>
            <a:stCxn id="6" idx="7"/>
            <a:endCxn id="6" idx="1"/>
          </p:cNvCxnSpPr>
          <p:nvPr/>
        </p:nvCxnSpPr>
        <p:spPr>
          <a:xfrm rot="16200000" flipV="1">
            <a:off x="1219200" y="1295556"/>
            <a:ext cx="12700" cy="1616446"/>
          </a:xfrm>
          <a:prstGeom prst="curvedConnector3">
            <a:avLst>
              <a:gd name="adj1" fmla="val 5901669"/>
            </a:avLst>
          </a:prstGeom>
          <a:ln w="38100">
            <a:prstDash val="sysDash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28301B-8D5D-BD57-7BF7-81FB0EDD7DA9}"/>
              </a:ext>
            </a:extLst>
          </p:cNvPr>
          <p:cNvSpPr txBox="1"/>
          <p:nvPr/>
        </p:nvSpPr>
        <p:spPr>
          <a:xfrm>
            <a:off x="381000" y="9906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--p;</a:t>
            </a:r>
          </a:p>
        </p:txBody>
      </p: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15BD2C25-A229-DBBA-39EB-F6A782472BEE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96027" y="1458727"/>
            <a:ext cx="12700" cy="1616446"/>
          </a:xfrm>
          <a:prstGeom prst="curvedConnector3">
            <a:avLst>
              <a:gd name="adj1" fmla="val 5901669"/>
            </a:avLst>
          </a:prstGeom>
          <a:ln w="38100">
            <a:prstDash val="sysDash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17351B4-BD80-F727-B9F6-A2FB4395FACF}"/>
              </a:ext>
            </a:extLst>
          </p:cNvPr>
          <p:cNvSpPr txBox="1"/>
          <p:nvPr/>
        </p:nvSpPr>
        <p:spPr>
          <a:xfrm>
            <a:off x="7950875" y="120650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--p;</a:t>
            </a:r>
          </a:p>
        </p:txBody>
      </p: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1FB834C3-2BA8-020F-65C2-BEBE7D73EC8C}"/>
              </a:ext>
            </a:extLst>
          </p:cNvPr>
          <p:cNvCxnSpPr>
            <a:cxnSpLocks/>
          </p:cNvCxnSpPr>
          <p:nvPr/>
        </p:nvCxnSpPr>
        <p:spPr>
          <a:xfrm rot="5400000">
            <a:off x="7812273" y="1941327"/>
            <a:ext cx="12700" cy="1616446"/>
          </a:xfrm>
          <a:prstGeom prst="curvedConnector3">
            <a:avLst>
              <a:gd name="adj1" fmla="val 5901669"/>
            </a:avLst>
          </a:prstGeom>
          <a:ln w="38100">
            <a:prstDash val="sysDash"/>
            <a:head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338260-84F6-BC6C-BADE-9CA81EC74CC5}"/>
              </a:ext>
            </a:extLst>
          </p:cNvPr>
          <p:cNvSpPr txBox="1"/>
          <p:nvPr/>
        </p:nvSpPr>
        <p:spPr>
          <a:xfrm>
            <a:off x="7493675" y="3486090"/>
            <a:ext cx="888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" pitchFamily="2" charset="0"/>
              </a:rPr>
              <a:t>++p;</a:t>
            </a:r>
          </a:p>
        </p:txBody>
      </p:sp>
      <p:sp>
        <p:nvSpPr>
          <p:cNvPr id="5" name="Footer Placeholder 48">
            <a:extLst>
              <a:ext uri="{FF2B5EF4-FFF2-40B4-BE49-F238E27FC236}">
                <a16:creationId xmlns:a16="http://schemas.microsoft.com/office/drawing/2014/main" id="{42981CE4-E9D3-7A48-9A1F-287ED5817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352800" cy="365125"/>
          </a:xfrm>
        </p:spPr>
        <p:txBody>
          <a:bodyPr/>
          <a:lstStyle/>
          <a:p>
            <a:r>
              <a:rPr lang="en-US" dirty="0"/>
              <a:t>CSE 428S – Multi-Paradigm Programming in C++</a:t>
            </a:r>
          </a:p>
        </p:txBody>
      </p:sp>
    </p:spTree>
    <p:extLst>
      <p:ext uri="{BB962C8B-B14F-4D97-AF65-F5344CB8AC3E}">
        <p14:creationId xmlns:p14="http://schemas.microsoft.com/office/powerpoint/2010/main" val="1791749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C1CCF-5CF6-CA4F-A042-1957A838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20D1A"/>
                </a:solidFill>
              </a:rPr>
              <a:t>Studio </a:t>
            </a:r>
            <a:r>
              <a:rPr lang="en-US" dirty="0" smtClean="0">
                <a:solidFill>
                  <a:srgbClr val="720D1A"/>
                </a:solidFill>
              </a:rPr>
              <a:t>2</a:t>
            </a:r>
            <a:endParaRPr lang="en-US" dirty="0">
              <a:solidFill>
                <a:srgbClr val="720D1A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1FFC-DF9C-DE49-9F6F-B2FBE0FE9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4724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Practice declaring </a:t>
            </a:r>
            <a:r>
              <a:rPr lang="en-US" b="1" dirty="0" err="1">
                <a:latin typeface="Courier" pitchFamily="2" charset="0"/>
              </a:rPr>
              <a:t>enum</a:t>
            </a:r>
            <a:r>
              <a:rPr lang="en-US" b="1" dirty="0">
                <a:latin typeface="Courier" pitchFamily="2" charset="0"/>
              </a:rPr>
              <a:t> class</a:t>
            </a:r>
            <a:r>
              <a:rPr lang="en-US" dirty="0"/>
              <a:t> style enumerations </a:t>
            </a:r>
          </a:p>
          <a:p>
            <a:pPr lvl="1"/>
            <a:endParaRPr lang="en-US" dirty="0"/>
          </a:p>
          <a:p>
            <a:r>
              <a:rPr lang="en-US" dirty="0"/>
              <a:t>Declare and define different operators over them</a:t>
            </a:r>
          </a:p>
          <a:p>
            <a:pPr lvl="1"/>
            <a:endParaRPr lang="en-US" dirty="0"/>
          </a:p>
          <a:p>
            <a:r>
              <a:rPr lang="en-US" dirty="0"/>
              <a:t>Consider different semantics for those operators</a:t>
            </a:r>
          </a:p>
          <a:p>
            <a:pPr lvl="1"/>
            <a:endParaRPr lang="en-US" dirty="0"/>
          </a:p>
          <a:p>
            <a:r>
              <a:rPr lang="en-US" dirty="0"/>
              <a:t>Builds up example code and techniques that may be useful for your implementation of Lab 0</a:t>
            </a:r>
          </a:p>
          <a:p>
            <a:pPr lvl="1"/>
            <a:endParaRPr lang="en-US" dirty="0"/>
          </a:p>
          <a:p>
            <a:r>
              <a:rPr lang="en-US" dirty="0"/>
              <a:t>Studios 0 through </a:t>
            </a:r>
            <a:r>
              <a:rPr lang="en-US" dirty="0" smtClean="0"/>
              <a:t>11 </a:t>
            </a:r>
            <a:r>
              <a:rPr lang="en-US" dirty="0"/>
              <a:t>are due 11:59pm Monday October </a:t>
            </a:r>
            <a:r>
              <a:rPr lang="en-US" dirty="0" smtClean="0"/>
              <a:t>16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(the night before Exam 0)</a:t>
            </a:r>
          </a:p>
          <a:p>
            <a:pPr lvl="1"/>
            <a:r>
              <a:rPr lang="en-US" dirty="0"/>
              <a:t>Submit as soon as each is done so you get feedback</a:t>
            </a:r>
          </a:p>
          <a:p>
            <a:pPr lvl="1"/>
            <a:r>
              <a:rPr lang="en-US" dirty="0"/>
              <a:t>… and can resubmit any that may be marked incomplete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8C6C7-0F97-6D48-807E-5E7260FC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6F77C-E162-431C-A3B9-21DE8B22395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48">
            <a:extLst>
              <a:ext uri="{FF2B5EF4-FFF2-40B4-BE49-F238E27FC236}">
                <a16:creationId xmlns:a16="http://schemas.microsoft.com/office/drawing/2014/main" id="{E01A6990-2A10-46D5-D334-FDD372AA2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0" y="6356350"/>
            <a:ext cx="3352800" cy="365125"/>
          </a:xfrm>
        </p:spPr>
        <p:txBody>
          <a:bodyPr/>
          <a:lstStyle/>
          <a:p>
            <a:r>
              <a:rPr lang="en-US" dirty="0"/>
              <a:t>CSE 428S – Multi-Paradigm Programming in C++</a:t>
            </a:r>
          </a:p>
        </p:txBody>
      </p:sp>
    </p:spTree>
    <p:extLst>
      <p:ext uri="{BB962C8B-B14F-4D97-AF65-F5344CB8AC3E}">
        <p14:creationId xmlns:p14="http://schemas.microsoft.com/office/powerpoint/2010/main" val="656025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1199</TotalTime>
  <Words>517</Words>
  <Application>Microsoft Office PowerPoint</Application>
  <PresentationFormat>On-screen Show (4:3)</PresentationFormat>
  <Paragraphs>93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</vt:lpstr>
      <vt:lpstr>Georgia</vt:lpstr>
      <vt:lpstr>Verdana</vt:lpstr>
      <vt:lpstr>Office Theme</vt:lpstr>
      <vt:lpstr>E81 CSE 428S: Multi-Paradigm Programming in C++</vt:lpstr>
      <vt:lpstr>What do we mean by State?</vt:lpstr>
      <vt:lpstr>Examples of Operations on State</vt:lpstr>
      <vt:lpstr>Iteration Example: Weekdays</vt:lpstr>
      <vt:lpstr>Iteration Example: Pressure</vt:lpstr>
      <vt:lpstr>Studio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david_n_laura</dc:creator>
  <cp:lastModifiedBy>Gill, Christopher</cp:lastModifiedBy>
  <cp:revision>120</cp:revision>
  <cp:lastPrinted>2022-08-29T15:07:01Z</cp:lastPrinted>
  <dcterms:created xsi:type="dcterms:W3CDTF">2016-01-21T02:03:40Z</dcterms:created>
  <dcterms:modified xsi:type="dcterms:W3CDTF">2023-08-22T12:52:05Z</dcterms:modified>
</cp:coreProperties>
</file>